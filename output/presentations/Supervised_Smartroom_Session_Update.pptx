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18efba4097e49b8" /><Relationship Type="http://schemas.openxmlformats.org/officeDocument/2006/relationships/extended-properties" Target="/docProps/app.xml" Id="R36cec770a364470e" /><Relationship Type="http://schemas.openxmlformats.org/officeDocument/2006/relationships/officeDocument" Target="/ppt/presentation.xml" Id="Ra4ab7f0884c348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cad62aaca9440d"/>
  </p:sldMasterIdLst>
  <p:notesMasterIdLst>
    <p:notesMasterId xmlns:r="http://schemas.openxmlformats.org/officeDocument/2006/relationships" r:id="Rce4a9e1c9ce84a74"/>
  </p:notesMasterIdLst>
  <p:sldIdLst>
    <p:sldId xmlns:r="http://schemas.openxmlformats.org/officeDocument/2006/relationships" id="256" r:id="R6740bb7481af4b04"/>
    <p:sldId xmlns:r="http://schemas.openxmlformats.org/officeDocument/2006/relationships" id="257" r:id="R332dd400ac78489a"/>
    <p:sldId xmlns:r="http://schemas.openxmlformats.org/officeDocument/2006/relationships" id="258" r:id="Re7e5ca51bd2a4289"/>
    <p:sldId xmlns:r="http://schemas.openxmlformats.org/officeDocument/2006/relationships" id="259" r:id="R28a5fff469d14a65"/>
    <p:sldId xmlns:r="http://schemas.openxmlformats.org/officeDocument/2006/relationships" id="260" r:id="R122d0f05469045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cf084e14cd4d5a" /><Relationship Type="http://schemas.openxmlformats.org/officeDocument/2006/relationships/slideMaster" Target="/ppt/slideMasters/slideMaster1.xml" Id="Rc7cad62aaca9440d" /><Relationship Type="http://schemas.openxmlformats.org/officeDocument/2006/relationships/notesMaster" Target="/ppt/notesMasters/notesMaster1.xml" Id="Rce4a9e1c9ce84a74" /><Relationship Type="http://schemas.openxmlformats.org/officeDocument/2006/relationships/presProps" Target="/ppt/presProps.xml" Id="R3dcf50d26f9b40e2" /><Relationship Type="http://schemas.openxmlformats.org/officeDocument/2006/relationships/tableStyles" Target="/ppt/tableStyles.xml" Id="Re180ce3dde7443b1" /><Relationship Type="http://schemas.openxmlformats.org/officeDocument/2006/relationships/slide" Target="/ppt/slides/slide1.xml" Id="R6740bb7481af4b04" /><Relationship Type="http://schemas.openxmlformats.org/officeDocument/2006/relationships/slide" Target="/ppt/slides/slide2.xml" Id="R332dd400ac78489a" /><Relationship Type="http://schemas.openxmlformats.org/officeDocument/2006/relationships/slide" Target="/ppt/slides/slide3.xml" Id="Re7e5ca51bd2a4289" /><Relationship Type="http://schemas.openxmlformats.org/officeDocument/2006/relationships/slide" Target="/ppt/slides/slide4.xml" Id="R28a5fff469d14a65" /><Relationship Type="http://schemas.openxmlformats.org/officeDocument/2006/relationships/slide" Target="/ppt/slides/slide5.xml" Id="R122d0f05469045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fd640c434ca4f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68d7ec9b984417" /><Relationship Type="http://schemas.openxmlformats.org/officeDocument/2006/relationships/notesMaster" Target="/ppt/notesMasters/notesMaster1.xml" Id="R68c59b213166410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ba471663124391" /><Relationship Type="http://schemas.openxmlformats.org/officeDocument/2006/relationships/notesMaster" Target="/ppt/notesMasters/notesMaster1.xml" Id="Rdf54d853209a4c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1357f7d29d64651" /><Relationship Type="http://schemas.openxmlformats.org/officeDocument/2006/relationships/notesMaster" Target="/ppt/notesMasters/notesMaster1.xml" Id="R8ee1db3dfe8844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17f2e03ab44362" /><Relationship Type="http://schemas.openxmlformats.org/officeDocument/2006/relationships/notesMaster" Target="/ppt/notesMasters/notesMaster1.xml" Id="R003452ff3dcc4f9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acc70f8dd34fcf" /><Relationship Type="http://schemas.openxmlformats.org/officeDocument/2006/relationships/notesMaster" Target="/ppt/notesMasters/notesMaster1.xml" Id="Rcb6ce87f073c46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Today I will show one small integrated update.</a:t>
            </a:r>
          </a:p>
          <a:p xmlns:a="http://schemas.openxmlformats.org/drawingml/2006/main">
            <a:r>
              <a:t>It gives every task a clean session and a safe pause point.</a:t>
            </a:r>
          </a:p>
          <a:p xmlns:a="http://schemas.openxmlformats.org/drawingml/2006/main">
            <a:r>
              <a:t>The same run uses the smart-room dashboard and the WoT devices.</a:t>
            </a:r>
          </a:p>
          <a:p xmlns:a="http://schemas.openxmlformats.org/drawingml/2006/main">
            <a:r>
              <a:t>I will first explain the idea, then run the demo, then show a few code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paper describes the ideal version on the left.</a:t>
            </a:r>
          </a:p>
          <a:p xmlns:a="http://schemas.openxmlformats.org/drawingml/2006/main">
            <a:r>
              <a:t>That version gives the agent its own Windows desktop.</a:t>
            </a:r>
          </a:p>
          <a:p xmlns:a="http://schemas.openxmlformats.org/drawingml/2006/main">
            <a:r>
              <a:t>Our project is web-based and runs on different systems, so this milestone is smaller.</a:t>
            </a:r>
          </a:p>
          <a:p xmlns:a="http://schemas.openxmlformats.org/drawingml/2006/main">
            <a:r>
              <a:t>I renamed it so I do not claim full PiP.</a:t>
            </a:r>
          </a:p>
          <a:p xmlns:a="http://schemas.openxmlformats.org/drawingml/2006/main">
            <a:r>
              <a:t>The current input gate protects software executors; it does not block a physical mouse at operating-system level.</a:t>
            </a:r>
          </a:p>
          <a:p xmlns:a="http://schemas.openxmlformats.org/drawingml/2006/main">
            <a:r>
              <a:t>A Windows RDP child session remains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First, one normal sentence becomes a GoalSpec.</a:t>
            </a:r>
          </a:p>
          <a:p xmlns:a="http://schemas.openxmlformats.org/drawingml/2006/main">
            <a:r>
              <a:t>The stable goal selects the reusable prepare-and-confirm-room Skill.</a:t>
            </a:r>
          </a:p>
          <a:p xmlns:a="http://schemas.openxmlformats.org/drawingml/2006/main">
            <a:r>
              <a:t>The Skill checks its parameters, allowed backends, safety level, and final condition.</a:t>
            </a:r>
          </a:p>
          <a:p xmlns:a="http://schemas.openxmlformats.org/drawingml/2006/main">
            <a:r>
              <a:t>The shared episode runner creates a fresh browser and a room checkpoint.</a:t>
            </a:r>
          </a:p>
          <a:p xmlns:a="http://schemas.openxmlformats.org/drawingml/2006/main">
            <a:r>
              <a:t>The agent types the room and time through DOM actions and controls three devices through WoT.</a:t>
            </a:r>
          </a:p>
          <a:p xmlns:a="http://schemas.openxmlformats.org/drawingml/2006/main">
            <a:r>
              <a:t>The final booking click is high risk, so the runtime pauses.</a:t>
            </a:r>
          </a:p>
          <a:p xmlns:a="http://schemas.openxmlformats.org/drawingml/2006/main">
            <a:r>
              <a:t>If a human takes over, the old plan is discarded and the runtime observes and plans again.</a:t>
            </a:r>
          </a:p>
          <a:p xmlns:a="http://schemas.openxmlformats.org/drawingml/2006/main">
            <a:r>
              <a:t>At the end, the browser closes and the original device state is restored.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checks I ran after the implementation.</a:t>
            </a:r>
          </a:p>
          <a:p xmlns:a="http://schemas.openxmlformats.org/drawingml/2006/main">
            <a:r>
              <a:t>The fast suite passed 758 tests.</a:t>
            </a:r>
          </a:p>
          <a:p xmlns:a="http://schemas.openxmlformats.org/drawingml/2006/main">
            <a:r>
              <a:t>The Docker smart-room suite passed 16 tests with a real browser and WoT services.</a:t>
            </a:r>
          </a:p>
          <a:p xmlns:a="http://schemas.openxmlformats.org/drawingml/2006/main">
            <a:r>
              <a:t>The live episode produced six verified primitive actions.</a:t>
            </a:r>
          </a:p>
          <a:p xmlns:a="http://schemas.openxmlformats.org/drawingml/2006/main">
            <a:r>
              <a:t>The episode artifact records the selected Skill, every primitive, the human decision, and the cleanup result.</a:t>
            </a:r>
          </a:p>
          <a:p xmlns:a="http://schemas.openxmlformats.org/drawingml/2006/main">
            <a:r>
              <a:t>I will open that JSON file after the live demo if we want to inspect the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Before the meeting, start Docker and keep the code files already open.</a:t>
            </a:r>
          </a:p>
          <a:p xmlns:a="http://schemas.openxmlformats.org/drawingml/2006/main">
            <a:r>
              <a:t>Run the command on the left without --auto-approve so the pause is visible.</a:t>
            </a:r>
          </a:p>
          <a:p xmlns:a="http://schemas.openxmlformats.org/drawingml/2006/main">
            <a:r>
              <a:t>The agent fills Room C and 15:30; they are not prefilled by the page.</a:t>
            </a:r>
          </a:p>
          <a:p xmlns:a="http://schemas.openxmlformats.org/drawingml/2006/main">
            <a:r>
              <a:t>It also changes the lights, projector, and thermostat through WoT.</a:t>
            </a:r>
          </a:p>
          <a:p xmlns:a="http://schemas.openxmlformats.org/drawingml/2006/main">
            <a:r>
              <a:t>At the pause, choose a to approve, or t to take control and click Book Room yourself.</a:t>
            </a:r>
          </a:p>
          <a:p xmlns:a="http://schemas.openxmlformats.org/drawingml/2006/main">
            <a:r>
              <a:t>Then show completed, both backends used, and state restored true in the terminal.</a:t>
            </a:r>
          </a:p>
          <a:p xmlns:a="http://schemas.openxmlformats.org/drawingml/2006/main">
            <a:r>
              <a:t>For code, open only the four places on the right and explain one sentence for each.</a:t>
            </a:r>
          </a:p>
          <a:p xmlns:a="http://schemas.openxmlformats.org/drawingml/2006/main">
            <a:r>
              <a:t>Finish by saying this is supervised session isolation, while full Windows PiP is future work.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74f1cdd4ba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8b0f37f3a2445c" /><Relationship Type="http://schemas.openxmlformats.org/officeDocument/2006/relationships/slideLayout" Target="/ppt/slideLayouts/slideLayout1.xml" Id="R50b937630f6746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b937630f6746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6a2163d624b99" /><Relationship Type="http://schemas.openxmlformats.org/officeDocument/2006/relationships/image" Target="/ppt/media/image.png" Id="Rd9f12a88e3b548a4" /><Relationship Type="http://schemas.openxmlformats.org/officeDocument/2006/relationships/notesSlide" Target="/ppt/notesSlides/notesSlide1.xml" Id="R6ab7462840ea4d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ce0916ce0474f" /><Relationship Type="http://schemas.openxmlformats.org/officeDocument/2006/relationships/notesSlide" Target="/ppt/notesSlides/notesSlide2.xml" Id="Re4246941a8cc4f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f0b17eb725436b" /><Relationship Type="http://schemas.openxmlformats.org/officeDocument/2006/relationships/notesSlide" Target="/ppt/notesSlides/notesSlide3.xml" Id="Rbded44280e6643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dffad3deb4ab7" /><Relationship Type="http://schemas.openxmlformats.org/officeDocument/2006/relationships/notesSlide" Target="/ppt/notesSlides/notesSlide4.xml" Id="Rad7c10a76b12422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95990c1dea4053" /><Relationship Type="http://schemas.openxmlformats.org/officeDocument/2006/relationships/notesSlide" Target="/ppt/notesSlides/notesSlide5.xml" Id="R76af4ed343b84b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E991FB-CAA8-4C67-9585-42A7BE4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Supervised smart-room sessions</a:t>
            </a:r>
          </a:p>
        </p:txBody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B1815C30-46E9-47BC-9DD4-E477CB33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WEEKLY UPDATE</a:t>
            </a:r>
          </a:p>
        </p:txBody>
      </p:sp>
      <p:sp>
        <p:nvSpPr>
          <p:cNvPr id="3" name="cover-message">
            <a:extLst xmlns:a="http://schemas.openxmlformats.org/drawingml/2006/main">
              <a:ext uri="{FF2B5EF4-FFF2-40B4-BE49-F238E27FC236}">
                <a16:creationId xmlns:a16="http://schemas.microsoft.com/office/drawing/2014/main" id="{32824B05-EFEC-491B-AE64-3DD818D2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05075"/>
            <a:ext cx="5238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shared path from a user request to safe, reversible execution.</a:t>
            </a:r>
          </a:p>
        </p:txBody>
      </p:sp>
      <p:sp>
        <p:nvSpPr>
          <p:cNvPr id="4" name="cover-details">
            <a:extLst xmlns:a="http://schemas.openxmlformats.org/drawingml/2006/main">
              <a:ext uri="{FF2B5EF4-FFF2-40B4-BE49-F238E27FC236}">
                <a16:creationId xmlns:a16="http://schemas.microsoft.com/office/drawing/2014/main" id="{B2ECD54F-663F-492A-BE28-6DEBDDBE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766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GoalSpec → Skill → DOM + WoT actions</a:t>
            </a:r>
          </a:p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Human pause → verification → cleanup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Fadi Ferjani  •  5–7 minutes</a:t>
            </a:r>
          </a:p>
        </p:txBody>
      </p:sp>
      <p:sp>
        <p:nvSpPr>
          <p:cNvPr id="5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AD227981-3238-4E49-9D22-67B3CAE5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2063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f12a88e3b548a4"/>
          <a:stretch xmlns:a="http://schemas.openxmlformats.org/drawingml/2006/main"/>
        </p:blipFill>
        <p:spPr>
          <a:xfrm xmlns:a="http://schemas.openxmlformats.org/drawingml/2006/main">
            <a:off x="6419850" y="1525191"/>
            <a:ext cx="5238750" cy="3274219"/>
          </a:xfrm>
          <a:prstGeom xmlns:a="http://schemas.openxmlformats.org/drawingml/2006/main" prst="roundRect">
            <a:avLst>
              <a:gd name="adj" fmla="val 2190"/>
            </a:avLst>
          </a:prstGeom>
        </p:spPr>
      </p:pic>
      <p:sp>
        <p:nvSpPr>
          <p:cNvPr id="7" name="hero-caption">
            <a:extLst xmlns:a="http://schemas.openxmlformats.org/drawingml/2006/main">
              <a:ext uri="{FF2B5EF4-FFF2-40B4-BE49-F238E27FC236}">
                <a16:creationId xmlns:a16="http://schemas.microsoft.com/office/drawing/2014/main" id="{06AA8652-52C6-458D-9D80-C17FC063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4343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anchor="ctr">
            <a:normAutofit fontScale="95945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dashboard evidence • DOM + WoT</a:t>
            </a:r>
          </a:p>
        </p:txBody>
      </p:sp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1EE11E9-040E-47F3-9AE6-5B063F23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6512423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AB0E83-05CE-4CD2-8F98-5679C60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ideal PiP and this milestone are different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4B8440-2DF8-4088-87E2-F0BFFC3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14525"/>
            <a:ext cx="553716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D2ECE8-0964-493A-8B4F-1D249AF3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14525"/>
            <a:ext cx="553716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ideal-heading">
            <a:extLst xmlns:a="http://schemas.openxmlformats.org/drawingml/2006/main">
              <a:ext uri="{FF2B5EF4-FFF2-40B4-BE49-F238E27FC236}">
                <a16:creationId xmlns:a16="http://schemas.microsoft.com/office/drawing/2014/main" id="{E2DB7F5E-6E7B-4BDC-924F-E659F5E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43125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Ideal: UFO2 Windows PiP</a:t>
            </a:r>
          </a:p>
        </p:txBody>
      </p:sp>
      <p:sp>
        <p:nvSpPr>
          <p:cNvPr id="5" name="bullets">
            <a:extLst xmlns:a="http://schemas.openxmlformats.org/drawingml/2006/main">
              <a:ext uri="{FF2B5EF4-FFF2-40B4-BE49-F238E27FC236}">
                <a16:creationId xmlns:a16="http://schemas.microsoft.com/office/drawing/2014/main" id="{3289E4D6-EA8E-4DFD-B140-F8ECB7F73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19400"/>
            <a:ext cx="5238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separate Windows child desktop</a:t>
            </a:r>
          </a:p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User mouse and keyboard cannot disturb the agent</a:t>
            </a:r>
          </a:p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child desktop appears inside an RDP window</a:t>
            </a:r>
          </a:p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Needs Windows-specific C# and system setup</a:t>
            </a:r>
          </a:p>
        </p:txBody>
      </p:sp>
      <p:sp>
        <p:nvSpPr>
          <p:cNvPr id="6" name="implemented-heading">
            <a:extLst xmlns:a="http://schemas.openxmlformats.org/drawingml/2006/main">
              <a:ext uri="{FF2B5EF4-FFF2-40B4-BE49-F238E27FC236}">
                <a16:creationId xmlns:a16="http://schemas.microsoft.com/office/drawing/2014/main" id="{AB6E4CF4-9EC1-4A3F-BC67-7F5086A9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143125"/>
            <a:ext cx="5429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Implemented: supervised session isolation</a:t>
            </a:r>
          </a:p>
        </p:txBody>
      </p:sp>
      <p:sp>
        <p:nvSpPr>
          <p:cNvPr id="7" name="bullets">
            <a:extLst xmlns:a="http://schemas.openxmlformats.org/drawingml/2006/main">
              <a:ext uri="{FF2B5EF4-FFF2-40B4-BE49-F238E27FC236}">
                <a16:creationId xmlns:a16="http://schemas.microsoft.com/office/drawing/2014/main" id="{54FDD280-8A09-4CD1-A004-5313F53E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819400"/>
            <a:ext cx="5238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fresh browser context for each episode</a:t>
            </a:r>
          </a:p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WoT checkpoint that is restored at the end</a:t>
            </a:r>
          </a:p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Tier-4 pause, approve, reject, cancel, or takeover</a:t>
            </a:r>
          </a:p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Software input ownership between agent and operator</a:t>
            </a:r>
          </a:p>
          <a:p xmlns:a="http://schemas.openxmlformats.org/drawingml/2006/main">
            <a:pPr marL="25" indent="-14">
              <a:spcAft>
                <a:spcPts val="10"/>
              </a:spcAft>
              <a:buChar char="•"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Uses the shared runtime pipeline</a:t>
            </a:r>
          </a:p>
        </p:txBody>
      </p:sp>
      <p:sp>
        <p:nvSpPr>
          <p:cNvPr id="8" name="source">
            <a:extLst xmlns:a="http://schemas.openxmlformats.org/drawingml/2006/main">
              <a:ext uri="{FF2B5EF4-FFF2-40B4-BE49-F238E27FC236}">
                <a16:creationId xmlns:a16="http://schemas.microsoft.com/office/drawing/2014/main" id="{94562FC2-06DE-416D-A27F-5897FB6F7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103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src/isolation/episode.py; src/isolation/input_lease.py; UFO2 paper used as the target design</a:t>
            </a:r>
          </a:p>
        </p:txBody>
      </p:sp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ECFA3C3-20AA-4063-8DED-808D3D1C4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973827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B78A04-B55A-4D77-A46A-3E073200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happens in one supervised episode</a:t>
            </a:r>
          </a:p>
        </p:txBody>
      </p:sp>
      <p:sp>
        <p:nvSpPr>
          <p:cNvPr id="2" name="timeline">
            <a:extLst xmlns:a="http://schemas.openxmlformats.org/drawingml/2006/main">
              <a:ext uri="{FF2B5EF4-FFF2-40B4-BE49-F238E27FC236}">
                <a16:creationId xmlns:a16="http://schemas.microsoft.com/office/drawing/2014/main" id="{F7392AE7-3AE9-432A-BEEE-C97CB61B8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71850"/>
            <a:ext cx="114014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E32477-8D5F-4583-B952-021A8A91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46B61-1251-49E1-ACDB-E5D8A73C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83A02-DF01-4F62-BB09-3ADD9A1D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14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B618F271-703B-4967-AD1D-8544B913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800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1  UNDERSTAND</a:t>
            </a:r>
          </a:p>
        </p:txBody>
      </p:sp>
      <p:sp>
        <p:nvSpPr>
          <p:cNvPr id="7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B0554E52-C96A-405C-90CA-C0B12EC8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GoalSpec → Skill</a:t>
            </a:r>
          </a:p>
        </p:txBody>
      </p:sp>
      <p:sp>
        <p:nvSpPr>
          <p:cNvPr id="8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0E551D71-FEDE-42D0-9F55-6D17F697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4419600"/>
            <a:ext cx="309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One request becomes a stable goal. The Skill Library validates all values and policies.</a:t>
            </a:r>
          </a:p>
        </p:txBody>
      </p:sp>
      <p:sp>
        <p:nvSpPr>
          <p:cNvPr id="9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14948A0A-2881-4DA6-9BB7-84F4D76C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800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2  ACT</a:t>
            </a:r>
          </a:p>
        </p:txBody>
      </p:sp>
      <p:sp>
        <p:nvSpPr>
          <p:cNvPr id="10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46DC54EE-A3AD-42E4-8332-3393D2E7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DOM + WoT</a:t>
            </a:r>
          </a:p>
        </p:txBody>
      </p:sp>
      <p:sp>
        <p:nvSpPr>
          <p:cNvPr id="11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65627553-86F5-4F3A-9440-734179F5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4419600"/>
            <a:ext cx="309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shared runner creates typed actions for the booking form, lights, projector, and thermostat.</a:t>
            </a:r>
          </a:p>
        </p:txBody>
      </p:sp>
      <p:sp>
        <p:nvSpPr>
          <p:cNvPr id="12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674D3CAC-7652-47BD-A8F1-127397E3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8003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3  SUPERVISE</a:t>
            </a:r>
          </a:p>
        </p:txBody>
      </p:sp>
      <p:sp>
        <p:nvSpPr>
          <p:cNvPr id="13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E774616D-E9EB-41F2-8810-810D3AE9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9050"/>
            <a:ext cx="3143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Pause → verify → restore</a:t>
            </a:r>
          </a:p>
        </p:txBody>
      </p:sp>
      <p:sp>
        <p:nvSpPr>
          <p:cNvPr id="14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B2D45A57-FF67-404D-9835-68EE2F6F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4419600"/>
            <a:ext cx="3095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risky click pauses. After a decision, the runtime verifies fresh state and always cleans up.</a:t>
            </a:r>
          </a:p>
        </p:txBody>
      </p:sp>
      <p:sp>
        <p:nvSpPr>
          <p:cNvPr id="15" name="source">
            <a:extLst xmlns:a="http://schemas.openxmlformats.org/drawingml/2006/main">
              <a:ext uri="{FF2B5EF4-FFF2-40B4-BE49-F238E27FC236}">
                <a16:creationId xmlns:a16="http://schemas.microsoft.com/office/drawing/2014/main" id="{D55B950C-4AB9-4676-AB91-49915795F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103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scripts/run_supervised_smartroom_demo.py; src/runtime/episode_runner.py; src/runtime/continuous_interaction_manager.py</a:t>
            </a:r>
          </a:p>
        </p:txBody>
      </p:sp>
      <p:sp>
        <p:nvSpPr>
          <p:cNvPr id="1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3C15D271-F869-4F9C-A249-D769F330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57776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69FE8A-209A-498C-BAEC-BE147C84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from the implementation</a:t>
            </a:r>
          </a:p>
        </p:txBody>
      </p:sp>
      <p:sp>
        <p:nvSpPr>
          <p:cNvPr id="2" name="evidence-intro">
            <a:extLst xmlns:a="http://schemas.openxmlformats.org/drawingml/2006/main">
              <a:ext uri="{FF2B5EF4-FFF2-40B4-BE49-F238E27FC236}">
                <a16:creationId xmlns:a16="http://schemas.microsoft.com/office/drawing/2014/main" id="{20D052AF-08D0-41D1-9AD0-1E730138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3525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The test and demo results below were produced from the same repository path used in the live walkthrough.</a:t>
            </a:r>
          </a:p>
        </p:txBody>
      </p:sp>
      <p:sp>
        <p:nvSpPr>
          <p:cNvPr id="3" name="metric-card-1">
            <a:extLst xmlns:a="http://schemas.openxmlformats.org/drawingml/2006/main">
              <a:ext uri="{FF2B5EF4-FFF2-40B4-BE49-F238E27FC236}">
                <a16:creationId xmlns:a16="http://schemas.microsoft.com/office/drawing/2014/main" id="{A3223DC9-AE25-4150-8A2A-9CD90021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8CCC78-A331-417C-9454-B08ECD0AA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242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metric-1">
            <a:extLst xmlns:a="http://schemas.openxmlformats.org/drawingml/2006/main">
              <a:ext uri="{FF2B5EF4-FFF2-40B4-BE49-F238E27FC236}">
                <a16:creationId xmlns:a16="http://schemas.microsoft.com/office/drawing/2014/main" id="{B3EFA739-04EA-4265-8FE5-FFA7B7CC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6004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758</a:t>
            </a:r>
          </a:p>
        </p:txBody>
      </p:sp>
      <p:sp>
        <p:nvSpPr>
          <p:cNvPr id="6" name="metric-1-label">
            <a:extLst xmlns:a="http://schemas.openxmlformats.org/drawingml/2006/main">
              <a:ext uri="{FF2B5EF4-FFF2-40B4-BE49-F238E27FC236}">
                <a16:creationId xmlns:a16="http://schemas.microsoft.com/office/drawing/2014/main" id="{4C027683-0F58-4EF5-B556-2842BBFA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6291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 tests passed</a:t>
            </a:r>
          </a:p>
        </p:txBody>
      </p:sp>
      <p:sp>
        <p:nvSpPr>
          <p:cNvPr id="7" name="metric-1-detail">
            <a:extLst xmlns:a="http://schemas.openxmlformats.org/drawingml/2006/main">
              <a:ext uri="{FF2B5EF4-FFF2-40B4-BE49-F238E27FC236}">
                <a16:creationId xmlns:a16="http://schemas.microsoft.com/office/drawing/2014/main" id="{F1421857-F530-4EAD-BC16-1730500E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51625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Contracts, planning, runtime, takeover, cleanup</a:t>
            </a:r>
          </a:p>
        </p:txBody>
      </p:sp>
      <p:sp>
        <p:nvSpPr>
          <p:cNvPr id="8" name="metric-card-2">
            <a:extLst xmlns:a="http://schemas.openxmlformats.org/drawingml/2006/main">
              <a:ext uri="{FF2B5EF4-FFF2-40B4-BE49-F238E27FC236}">
                <a16:creationId xmlns:a16="http://schemas.microsoft.com/office/drawing/2014/main" id="{D6B3A111-E67E-4B29-8959-3241B6C7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9A032-F7FD-446E-BCF3-529891F2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242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metric-2">
            <a:extLst xmlns:a="http://schemas.openxmlformats.org/drawingml/2006/main">
              <a:ext uri="{FF2B5EF4-FFF2-40B4-BE49-F238E27FC236}">
                <a16:creationId xmlns:a16="http://schemas.microsoft.com/office/drawing/2014/main" id="{EBC211C5-DFB3-4526-9713-C05D4126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6004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11" name="metric-2-label">
            <a:extLst xmlns:a="http://schemas.openxmlformats.org/drawingml/2006/main">
              <a:ext uri="{FF2B5EF4-FFF2-40B4-BE49-F238E27FC236}">
                <a16:creationId xmlns:a16="http://schemas.microsoft.com/office/drawing/2014/main" id="{E8710C32-A3F7-4B05-BAF9-5F9E287B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6291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smart-room tests passed</a:t>
            </a:r>
          </a:p>
        </p:txBody>
      </p:sp>
      <p:sp>
        <p:nvSpPr>
          <p:cNvPr id="12" name="metric-2-detail">
            <a:extLst xmlns:a="http://schemas.openxmlformats.org/drawingml/2006/main">
              <a:ext uri="{FF2B5EF4-FFF2-40B4-BE49-F238E27FC236}">
                <a16:creationId xmlns:a16="http://schemas.microsoft.com/office/drawing/2014/main" id="{F9D6E4DD-65BE-4D7B-ABF2-F6C3F2B87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51625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Real Chromium + running WoT services</a:t>
            </a:r>
          </a:p>
        </p:txBody>
      </p:sp>
      <p:sp>
        <p:nvSpPr>
          <p:cNvPr id="13" name="metric-card-3">
            <a:extLst xmlns:a="http://schemas.openxmlformats.org/drawingml/2006/main">
              <a:ext uri="{FF2B5EF4-FFF2-40B4-BE49-F238E27FC236}">
                <a16:creationId xmlns:a16="http://schemas.microsoft.com/office/drawing/2014/main" id="{5820FAD8-6813-4BAA-A4F4-8F1084C4C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684553-76C7-46CF-9647-A3F84A724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24225"/>
            <a:ext cx="7048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metric-3">
            <a:extLst xmlns:a="http://schemas.openxmlformats.org/drawingml/2006/main">
              <a:ext uri="{FF2B5EF4-FFF2-40B4-BE49-F238E27FC236}">
                <a16:creationId xmlns:a16="http://schemas.microsoft.com/office/drawing/2014/main" id="{90C0C1E2-3FF7-433F-8FC0-A3DB2AA6D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600450"/>
            <a:ext cx="295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6" name="metric-3-label">
            <a:extLst xmlns:a="http://schemas.openxmlformats.org/drawingml/2006/main">
              <a:ext uri="{FF2B5EF4-FFF2-40B4-BE49-F238E27FC236}">
                <a16:creationId xmlns:a16="http://schemas.microsoft.com/office/drawing/2014/main" id="{AB227E02-C1CC-4D11-A0BD-EFFC337C1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6291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verified demo actions</a:t>
            </a:r>
          </a:p>
        </p:txBody>
      </p:sp>
      <p:sp>
        <p:nvSpPr>
          <p:cNvPr id="17" name="metric-3-detail">
            <a:extLst xmlns:a="http://schemas.openxmlformats.org/drawingml/2006/main">
              <a:ext uri="{FF2B5EF4-FFF2-40B4-BE49-F238E27FC236}">
                <a16:creationId xmlns:a16="http://schemas.microsoft.com/office/drawing/2014/main" id="{A23A2D13-3A6D-4186-8DB7-078AD68E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51625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2 DOM inputs + 3 WoT calls + 1 protected click</a:t>
            </a:r>
          </a:p>
        </p:txBody>
      </p:sp>
      <p:sp>
        <p:nvSpPr>
          <p:cNvPr id="18" name="source">
            <a:extLst xmlns:a="http://schemas.openxmlformats.org/drawingml/2006/main">
              <a:ext uri="{FF2B5EF4-FFF2-40B4-BE49-F238E27FC236}">
                <a16:creationId xmlns:a16="http://schemas.microsoft.com/office/drawing/2014/main" id="{F9C1CF05-CB28-4B77-961E-52B43F81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103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Source: local test runs; artifacts/supervised_smartroom/episode.json (completed, DOM + WoT, restored=true)</a:t>
            </a:r>
          </a:p>
        </p:txBody>
      </p:sp>
      <p:sp>
        <p:nvSpPr>
          <p:cNvPr id="1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50AF283-82F2-4962-84B9-7E9BF6F5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69170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AFD8B1A-AFFD-4F27-ABE4-20F8A589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I will show it in the meeting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6E3BF3-87BE-4DB1-B647-34D7825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914525"/>
            <a:ext cx="553716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172BB7-8A52-43E0-BD2C-8D86F9AA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914525"/>
            <a:ext cx="553716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4" name="demo-heading">
            <a:extLst xmlns:a="http://schemas.openxmlformats.org/drawingml/2006/main">
              <a:ext uri="{FF2B5EF4-FFF2-40B4-BE49-F238E27FC236}">
                <a16:creationId xmlns:a16="http://schemas.microsoft.com/office/drawing/2014/main" id="{4E2CAE4F-481B-481E-B341-28EB3A033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43125"/>
            <a:ext cx="533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Live demo  •  about 3 minutes</a:t>
            </a:r>
          </a:p>
        </p:txBody>
      </p:sp>
      <p:sp>
        <p:nvSpPr>
          <p:cNvPr id="5" name="demo-command">
            <a:extLst xmlns:a="http://schemas.openxmlformats.org/drawingml/2006/main">
              <a:ext uri="{FF2B5EF4-FFF2-40B4-BE49-F238E27FC236}">
                <a16:creationId xmlns:a16="http://schemas.microsoft.com/office/drawing/2014/main" id="{0897BB64-2F3D-4427-97DD-A6FA42EA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81300"/>
            <a:ext cx="5238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  <p:txBody>
          <a:bodyPr xmlns:a="http://schemas.openxmlformats.org/drawingml/2006/main" lIns="114300" tIns="76200" rIns="1143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.venv/bin/python scripts/</a:t>
            </a:r>
          </a:p>
          <a:p xmlns:a="http://schemas.openxmlformats.org/drawingml/2006/main">
            <a:pPr>
              <a:defRPr sz="1350" b="1">
                <a:solidFill>
                  <a:srgbClr val="000000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000000"/>
                </a:solidFill>
                <a:latin typeface="Menlo"/>
                <a:ea typeface="Menlo"/>
                <a:cs typeface="Menlo"/>
              </a:rPr>
              <a:t>run_supervised_smartroom_demo.py</a:t>
            </a:r>
          </a:p>
        </p:txBody>
      </p:sp>
      <p:sp>
        <p:nvSpPr>
          <p:cNvPr id="6" name="bullets">
            <a:extLst xmlns:a="http://schemas.openxmlformats.org/drawingml/2006/main">
              <a:ext uri="{FF2B5EF4-FFF2-40B4-BE49-F238E27FC236}">
                <a16:creationId xmlns:a16="http://schemas.microsoft.com/office/drawing/2014/main" id="{6ABA6AC8-33BC-4836-AAE5-0FDF8C97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733800"/>
            <a:ext cx="5238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Watch the clean browser open</a:t>
            </a:r>
          </a:p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See room, time, and devices change</a:t>
            </a:r>
          </a:p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the pause: approve or take control</a:t>
            </a:r>
          </a:p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Finish on completed + state restored</a:t>
            </a:r>
          </a:p>
        </p:txBody>
      </p:sp>
      <p:sp>
        <p:nvSpPr>
          <p:cNvPr id="7" name="code-heading">
            <a:extLst xmlns:a="http://schemas.openxmlformats.org/drawingml/2006/main">
              <a:ext uri="{FF2B5EF4-FFF2-40B4-BE49-F238E27FC236}">
                <a16:creationId xmlns:a16="http://schemas.microsoft.com/office/drawing/2014/main" id="{CB9E8849-C4FE-4C35-A547-C6F64AD5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143125"/>
            <a:ext cx="5429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 code walkthrough  •  about 2 minutes</a:t>
            </a:r>
          </a:p>
        </p:txBody>
      </p:sp>
      <p:sp>
        <p:nvSpPr>
          <p:cNvPr id="8" name="bullets">
            <a:extLst xmlns:a="http://schemas.openxmlformats.org/drawingml/2006/main">
              <a:ext uri="{FF2B5EF4-FFF2-40B4-BE49-F238E27FC236}">
                <a16:creationId xmlns:a16="http://schemas.microsoft.com/office/drawing/2014/main" id="{7AFC206B-63B0-4258-96E8-23781B0FD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924175"/>
            <a:ext cx="523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Intent + stable GoalSpec: intent_planner.py</a:t>
            </a:r>
          </a:p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GoalSpec → Skill: goal_skill_selector.py</a:t>
            </a:r>
          </a:p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Shared path: episode_runner.py</a:t>
            </a:r>
          </a:p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Session + input lease: src/isolation/</a:t>
            </a:r>
          </a:p>
          <a:p xmlns:a="http://schemas.openxmlformats.org/drawingml/2006/main">
            <a:pPr marL="25" indent="-14">
              <a:spcAft>
                <a:spcPts val="8"/>
              </a:spcAft>
              <a:buChar char="•"/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trace: supervised_smartroom/episode.json</a:t>
            </a:r>
          </a:p>
        </p:txBody>
      </p:sp>
      <p:sp>
        <p:nvSpPr>
          <p:cNvPr id="9" name="scope-limit">
            <a:extLst xmlns:a="http://schemas.openxmlformats.org/drawingml/2006/main">
              <a:ext uri="{FF2B5EF4-FFF2-40B4-BE49-F238E27FC236}">
                <a16:creationId xmlns:a16="http://schemas.microsoft.com/office/drawing/2014/main" id="{22F443CF-2F95-4011-98AC-17609F37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5457825"/>
            <a:ext cx="523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Honest limit: this is not a separate Windows/RDP desktop.</a:t>
            </a:r>
          </a:p>
        </p:txBody>
      </p:sp>
      <p:sp>
        <p:nvSpPr>
          <p:cNvPr id="10" name="source">
            <a:extLst xmlns:a="http://schemas.openxmlformats.org/drawingml/2006/main">
              <a:ext uri="{FF2B5EF4-FFF2-40B4-BE49-F238E27FC236}">
                <a16:creationId xmlns:a16="http://schemas.microsoft.com/office/drawing/2014/main" id="{42B854FC-B338-4F20-A230-3F1BC89F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10300"/>
            <a:ext cx="1000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>
                <a:solidFill>
                  <a:srgbClr val="555555"/>
                </a:solidFill>
                <a:latin typeface="Helvetica Neue"/>
                <a:ea typeface="Helvetica Neue"/>
                <a:cs typeface="Helvetica Neue"/>
              </a:rPr>
              <a:t>Runbook: SUPERVISED_SMARTROOM_WALKTHROUGH.md</a:t>
            </a:r>
          </a:p>
        </p:txBody>
      </p:sp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ACC790-2A42-4CE1-93EE-C4449477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08637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2026-08-21T07:28:53.7340000Z</dcterms:created>
  <dcterms:modified xsi:type="dcterms:W3CDTF">2026-08-21T07:28:53.7340000Z</dcterms:modified>
</coreProperties>
</file>