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dbe92da359490d" /><Relationship Type="http://schemas.openxmlformats.org/officeDocument/2006/relationships/extended-properties" Target="/docProps/app.xml" Id="R6fb8e516d2ad4d81" /><Relationship Type="http://schemas.openxmlformats.org/officeDocument/2006/relationships/officeDocument" Target="/ppt/presentation.xml" Id="Re3ce8fc61c2f44fe" /></Relationships>
</file>

<file path=ppt/presentation.xml><?xml version="1.0" encoding="utf-8"?>
<p:presentation xmlns:p="http://schemas.openxmlformats.org/presentationml/2006/main">
  <p:sldMasterIdLst>
    <p:sldMasterId xmlns:r="http://schemas.openxmlformats.org/officeDocument/2006/relationships" id="2147483648" r:id="R480dc842060d4921"/>
  </p:sldMasterIdLst>
  <p:notesMasterIdLst>
    <p:notesMasterId xmlns:r="http://schemas.openxmlformats.org/officeDocument/2006/relationships" r:id="R2d89fe3dcae64e80"/>
  </p:notesMasterIdLst>
  <p:sldIdLst>
    <p:sldId xmlns:r="http://schemas.openxmlformats.org/officeDocument/2006/relationships" id="256" r:id="Rb38cd829d9a34370"/>
    <p:sldId xmlns:r="http://schemas.openxmlformats.org/officeDocument/2006/relationships" id="257" r:id="Rc837c015a36f4ef4"/>
    <p:sldId xmlns:r="http://schemas.openxmlformats.org/officeDocument/2006/relationships" id="258" r:id="Rb84623534cbd4639"/>
    <p:sldId xmlns:r="http://schemas.openxmlformats.org/officeDocument/2006/relationships" id="259" r:id="R602db485005745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f1e89a7bf84d39" /><Relationship Type="http://schemas.openxmlformats.org/officeDocument/2006/relationships/slideMaster" Target="/ppt/slideMasters/slideMaster1.xml" Id="R480dc842060d4921" /><Relationship Type="http://schemas.openxmlformats.org/officeDocument/2006/relationships/notesMaster" Target="/ppt/notesMasters/notesMaster1.xml" Id="R2d89fe3dcae64e80" /><Relationship Type="http://schemas.openxmlformats.org/officeDocument/2006/relationships/presProps" Target="/ppt/presProps.xml" Id="Rf74c81431ebc4efa" /><Relationship Type="http://schemas.openxmlformats.org/officeDocument/2006/relationships/tableStyles" Target="/ppt/tableStyles.xml" Id="Rb1fa3be361d941e8" /><Relationship Type="http://schemas.openxmlformats.org/officeDocument/2006/relationships/slide" Target="/ppt/slides/slide1.xml" Id="Rb38cd829d9a34370" /><Relationship Type="http://schemas.openxmlformats.org/officeDocument/2006/relationships/slide" Target="/ppt/slides/slide2.xml" Id="Rc837c015a36f4ef4" /><Relationship Type="http://schemas.openxmlformats.org/officeDocument/2006/relationships/slide" Target="/ppt/slides/slide3.xml" Id="Rb84623534cbd4639" /><Relationship Type="http://schemas.openxmlformats.org/officeDocument/2006/relationships/slide" Target="/ppt/slides/slide4.xml" Id="R602db485005745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968867679349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879c4476ab4332" /><Relationship Type="http://schemas.openxmlformats.org/officeDocument/2006/relationships/notesMaster" Target="/ppt/notesMasters/notesMaster1.xml" Id="R3a4a3d52ff664f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a97263b1274b3f" /><Relationship Type="http://schemas.openxmlformats.org/officeDocument/2006/relationships/notesMaster" Target="/ppt/notesMasters/notesMaster1.xml" Id="R75145c156b904d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4abc71e1184535" /><Relationship Type="http://schemas.openxmlformats.org/officeDocument/2006/relationships/notesMaster" Target="/ppt/notesMasters/notesMaster1.xml" Id="R52583a1391f64a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8bcf634394491b" /><Relationship Type="http://schemas.openxmlformats.org/officeDocument/2006/relationships/notesMaster" Target="/ppt/notesMasters/notesMaster1.xml" Id="Raf8e78d1a34b43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one simple sentence: ‘I connected the pieces we already had into one complete supervised action path.’</a:t>
            </a:r>
          </a:p>
          <a:p xmlns:a="http://schemas.openxmlformats.org/drawingml/2006/main">
            <a:r>
              <a:t>Explain that this update is about the action system. A structured GoalSpec now selects a reusable Skill before the runtime creates and executes primitive actions.</a:t>
            </a:r>
          </a:p>
          <a:p xmlns:a="http://schemas.openxmlformats.org/drawingml/2006/main">
            <a:r>
              <a:t>Also set the scope immediately: this is browser and WoT isolation with human takeover. It is a milestone toward PiP, not the Windows RDP child desktop from the UFO2 paper.</a:t>
            </a:r>
          </a:p>
          <a:p xmlns:a="http://schemas.openxmlformats.org/drawingml/2006/main">
            <a:r>
              <a:t>Tell them you will show the small code bridge, run one booking task, and finish with the evidence file. This should take about five to seven minutes.</a:t>
            </a:r>
          </a:p>
          <a:p xmlns:a="http://schemas.openxmlformats.org/drawingml/2006/main">
            <a:r>
              <a:t/>
            </a:r>
          </a:p>
          <a:p xmlns:a="http://schemas.openxmlformats.org/drawingml/2006/main">
            <a:r>
              <a:t>[Sources]</a:t>
            </a:r>
          </a:p>
          <a:p xmlns:a="http://schemas.openxmlformats.org/drawingml/2006/main">
            <a:r>
              <a:t>- FADI_WEEKLY_UPDATE_WALKTHROUGH.md</a:t>
            </a:r>
          </a:p>
          <a:p xmlns:a="http://schemas.openxmlformats.org/drawingml/2006/main">
            <a:r>
              <a:t>- README.md#fadi-weekly-update-demo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‘Before this change, these parts existed, but the GoalSpec path skipped the durable Skill Library.’</a:t>
            </a:r>
          </a:p>
          <a:p xmlns:a="http://schemas.openxmlformats.org/drawingml/2006/main">
            <a:r>
              <a:t>Point to the three steps from left to right.</a:t>
            </a:r>
          </a:p>
          <a:p xmlns:a="http://schemas.openxmlformats.org/drawingml/2006/main">
            <a:r>
              <a:t>First, GoalSpec is the structured request: confirm a booking for a room and time.</a:t>
            </a:r>
          </a:p>
          <a:p xmlns:a="http://schemas.openxmlformats.org/drawingml/2006/main">
            <a:r>
              <a:t>Second, GoalSkillSelector finds the Skill with the same ID. It checks that room and time exist and have the right simple types. It then creates the SkillCall and records the chosen contract.</a:t>
            </a:r>
          </a:p>
          <a:p xmlns:a="http://schemas.openxmlformats.org/drawingml/2006/main">
            <a:r>
              <a:t>Third, the existing ContinuousInteractionManager stays in control. It reads the current affordances and generates typed primitive actions. For this task the plan is type the room, type the time, then click Book Room.</a:t>
            </a:r>
          </a:p>
          <a:p xmlns:a="http://schemas.openxmlformats.org/drawingml/2006/main">
            <a:r>
              <a:t>Be precise if asked: the selected Skill contract is validated and recorded. The matching GoalSpec postcondition is freshly verified after execution. This change does not add a new general precondition-enforcement engine.</a:t>
            </a:r>
          </a:p>
          <a:p xmlns:a="http://schemas.openxmlformats.org/drawingml/2006/main">
            <a:r>
              <a:t>For a short code walkthrough, open goal_skill_selector.py, then the run_goal method in continuous_interaction_manager.py. Do not read all the code; show only where selection and evidence are attached.</a:t>
            </a:r>
          </a:p>
          <a:p xmlns:a="http://schemas.openxmlformats.org/drawingml/2006/main">
            <a:r>
              <a:t/>
            </a:r>
          </a:p>
          <a:p xmlns:a="http://schemas.openxmlformats.org/drawingml/2006/main">
            <a:r>
              <a:t>[Sources]</a:t>
            </a:r>
          </a:p>
          <a:p xmlns:a="http://schemas.openxmlformats.org/drawingml/2006/main">
            <a:r>
              <a:t>- src/planner/goal_skill_selector.py</a:t>
            </a:r>
          </a:p>
          <a:p xmlns:a="http://schemas.openxmlformats.org/drawingml/2006/main">
            <a:r>
              <a:t>- src/runtime/continuous_interaction_manager.py</a:t>
            </a:r>
          </a:p>
          <a:p xmlns:a="http://schemas.openxmlformats.org/drawingml/2006/main">
            <a:r>
              <a:t>- config/skills_seed.json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live part. Before the meeting, start the Docker smart-room environment. Then run: .venv/bin/python scripts/run_fadi_demo.py --headed.</a:t>
            </a:r>
          </a:p>
          <a:p xmlns:a="http://schemas.openxmlformats.org/drawingml/2006/main">
            <a:r>
              <a:t>The browser opens in a fresh context. The terminal prints the GoalSpec, the selected confirm_booking Skill, and the contract details.</a:t>
            </a:r>
          </a:p>
          <a:p xmlns:a="http://schemas.openxmlformats.org/drawingml/2006/main">
            <a:r>
              <a:t>Watch the browser: the agent types the room and time. It then reaches the protected Book Room click and the terminal prints TIER-4 PAUSE.</a:t>
            </a:r>
          </a:p>
          <a:p xmlns:a="http://schemas.openxmlformats.org/drawingml/2006/main">
            <a:r>
              <a:t>Choose ‘t’ to take control. In the browser, click Book Room yourself. Return to the terminal and press Enter.</a:t>
            </a:r>
          </a:p>
          <a:p xmlns:a="http://schemas.openxmlformats.org/drawingml/2006/main">
            <a:r>
              <a:t>Explain what happens next: Resume does not continue the old click. It gives control back, takes a fresh observation, invalidates the old grounding, and replans. Because the page is already confirmed, the agent ends successfully without clicking again.</a:t>
            </a:r>
          </a:p>
          <a:p xmlns:a="http://schemas.openxmlformats.org/drawingml/2006/main">
            <a:r>
              <a:t>If Docker or Chromium is unavailable, use: .venv/bin/python scripts/run_fadi_demo.py --dry-run. Say that this is a deterministic rehearsal with fake outer surfaces, but the real CIM, isolation provider, intervention broker, planner, verification, and ledgers still execute.</a:t>
            </a:r>
          </a:p>
          <a:p xmlns:a="http://schemas.openxmlformats.org/drawingml/2006/main">
            <a:r>
              <a:t/>
            </a:r>
          </a:p>
          <a:p xmlns:a="http://schemas.openxmlformats.org/drawingml/2006/main">
            <a:r>
              <a:t>[Sources]</a:t>
            </a:r>
          </a:p>
          <a:p xmlns:a="http://schemas.openxmlformats.org/drawingml/2006/main">
            <a:r>
              <a:t>- scripts/run_fadi_demo.py</a:t>
            </a:r>
          </a:p>
          <a:p xmlns:a="http://schemas.openxmlformats.org/drawingml/2006/main">
            <a:r>
              <a:t>- src/runtime/live_environment.py</a:t>
            </a:r>
          </a:p>
          <a:p xmlns:a="http://schemas.openxmlformats.org/drawingml/2006/main">
            <a:r>
              <a:t>- src/runtime/intervention.py</a:t>
            </a:r>
          </a:p>
          <a:p xmlns:a="http://schemas.openxmlformats.org/drawingml/2006/main">
            <a:r>
              <a:t>- src/isolation/episode.py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artifacts/fadi_weekly_demo/episode.json. Show only six fields: goal_spec, selected_skill, generated_primitive_plan, human_interventions, result, and isolation.</a:t>
            </a:r>
          </a:p>
          <a:p xmlns:a="http://schemas.openxmlformats.org/drawingml/2006/main">
            <a:r>
              <a:t>Point out that the plan contains type, type, click. In the takeover version, agent_executor_calls contains only the two typing actions because the human completed the final click.</a:t>
            </a:r>
          </a:p>
          <a:p xmlns:a="http://schemas.openxmlformats.org/drawingml/2006/main">
            <a:r>
              <a:t>In human_interventions, show decision=resume plus reobserved=true and replanned=true. In result, show final_outcome_verified=true. In isolation, show room_state_restored=true and that the provider is no longer active.</a:t>
            </a:r>
          </a:p>
          <a:p xmlns:a="http://schemas.openxmlformats.org/drawingml/2006/main">
            <a:r>
              <a:t>End with the difference from UFO2. Our milestone isolates a browser context and simulated WoT state, and it gives a human an awaited takeover workflow. UFO2's full PiP places a Windows child desktop inside a visible host window using RDP child-session support. That adds separate desktop windows, focus, keyboard/mouse input, and a Windows host component.</a:t>
            </a:r>
          </a:p>
          <a:p xmlns:a="http://schemas.openxmlformats.org/drawingml/2006/main">
            <a:r>
              <a:t>Suggested closing sentence: ‘This gives our current web project a small, working, testable PiP milestone; the Windows desktop layer is a separate next stage.’</a:t>
            </a:r>
          </a:p>
          <a:p xmlns:a="http://schemas.openxmlformats.org/drawingml/2006/main">
            <a:r>
              <a:t>If asked about the old demos: they still work. This focused demo reuses the existing smart-room environment and CIM, and the old zero-shot goal path remains available for goals with no matching Skill.</a:t>
            </a:r>
          </a:p>
          <a:p xmlns:a="http://schemas.openxmlformats.org/drawingml/2006/main">
            <a:r>
              <a:t/>
            </a:r>
          </a:p>
          <a:p xmlns:a="http://schemas.openxmlformats.org/drawingml/2006/main">
            <a:r>
              <a:t>[Sources]</a:t>
            </a:r>
          </a:p>
          <a:p xmlns:a="http://schemas.openxmlformats.org/drawingml/2006/main">
            <a:r>
              <a:t>- artifacts/fadi_weekly_demo/episode.json</a:t>
            </a:r>
          </a:p>
          <a:p xmlns:a="http://schemas.openxmlformats.org/drawingml/2006/main">
            <a:r>
              <a:t>- tests/test_run_fadi_demo.py</a:t>
            </a:r>
          </a:p>
          <a:p xmlns:a="http://schemas.openxmlformats.org/drawingml/2006/main">
            <a:r>
              <a:t>- README.md#project-pip-mvp-isolated-task-sessions</a:t>
            </a:r>
          </a:p>
          <a:p xmlns:a="http://schemas.openxmlformats.org/drawingml/2006/main">
            <a:r>
              <a:t>- /Users/fadiferjani/Downloads/ufo2.pdf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14fbb99ede42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7203ff6c2b4f1a" /><Relationship Type="http://schemas.openxmlformats.org/officeDocument/2006/relationships/slideLayout" Target="/ppt/slideLayouts/slideLayout1.xml" Id="R66f90f5d6bf648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f90f5d6bf648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ad85d0c5f640ac" /><Relationship Type="http://schemas.openxmlformats.org/officeDocument/2006/relationships/notesSlide" Target="/ppt/notesSlides/notesSlide1.xml" Id="R3069d7bd5f3e49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36b9c1f1e04b25" /><Relationship Type="http://schemas.openxmlformats.org/officeDocument/2006/relationships/notesSlide" Target="/ppt/notesSlides/notesSlide2.xml" Id="R819edba9f5144b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a7866e6c8e4530" /><Relationship Type="http://schemas.openxmlformats.org/officeDocument/2006/relationships/notesSlide" Target="/ppt/notesSlides/notesSlide3.xml" Id="R2d03c02e8a104a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2d82a9131a4559" /><Relationship Type="http://schemas.openxmlformats.org/officeDocument/2006/relationships/notesSlide" Target="/ppt/notesSlides/notesSlide4.xml" Id="R40194e4a7b2f4f3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CD105174-6843-431F-8131-84AD99FE09F8}"/>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86000"/>
              </a:lnSpc>
              <a:buNone/>
              <a:defRPr sz="6000">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GoalSpec-to-Skill</a:t>
            </a:r>
            <a:br>
              <a:rPr sz="5400">
                <a:solidFill>
                  <a:srgbClr val="000000"/>
                </a:solidFill>
                <a:latin typeface="Helvetica Neue"/>
                <a:ea typeface="Helvetica Neue"/>
                <a:cs typeface="Helvetica Neue"/>
              </a:rPr>
            </a:br>
            <a:r>
              <a:rPr sz="4800" b="1">
                <a:solidFill>
                  <a:srgbClr val="3D8DFF"/>
                </a:solidFill>
                <a:latin typeface="Helvetica Neue"/>
                <a:ea typeface="Helvetica Neue"/>
                <a:cs typeface="Helvetica Neue"/>
              </a:rPr>
              <a:t>with supervised takeover</a:t>
            </a:r>
          </a:p>
        </p:txBody>
      </p:sp>
      <p:sp>
        <p:nvSpPr>
          <p:cNvPr id="2" name="Subtitle-4-2">
            <a:extLst xmlns:a="http://schemas.openxmlformats.org/drawingml/2006/main">
              <a:ext uri="{FF2B5EF4-FFF2-40B4-BE49-F238E27FC236}">
                <a16:creationId xmlns:a16="http://schemas.microsoft.com/office/drawing/2014/main" id="{136B0A8C-863E-4F8D-820D-8F5D5FB26F28}"/>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A small, testable milestone toward Project PiP · 5–7 minute walkthrough</a:t>
            </a:r>
          </a:p>
        </p:txBody>
      </p:sp>
      <p:sp>
        <p:nvSpPr>
          <p:cNvPr id="3" name="Subtitle-4-3">
            <a:extLst xmlns:a="http://schemas.openxmlformats.org/drawingml/2006/main">
              <a:ext uri="{FF2B5EF4-FFF2-40B4-BE49-F238E27FC236}">
                <a16:creationId xmlns:a16="http://schemas.microsoft.com/office/drawing/2014/main" id="{A888485A-E1B7-4F1B-B4F2-56D239552F84}"/>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650" b="1">
                <a:solidFill>
                  <a:srgbClr val="3D8DFF"/>
                </a:solidFill>
                <a:latin typeface="Helvetica Neue"/>
                <a:ea typeface="Helvetica Neue"/>
                <a:cs typeface="Helvetica Neue"/>
              </a:rPr>
              <a:t>WEEKLY UPDATE · FADI</a:t>
            </a:r>
          </a:p>
        </p:txBody>
      </p:sp>
    </p:spTree>
    <p:extLst>
      <p:ext uri="{BB962C8B-B14F-4D97-AF65-F5344CB8AC3E}">
        <p14:creationId xmlns:p14="http://schemas.microsoft.com/office/powerpoint/2010/main" val="107332231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95E0D4B6-654E-40B9-8EB2-FB9B6227144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Title-10-3">
            <a:extLst xmlns:a="http://schemas.openxmlformats.org/drawingml/2006/main">
              <a:ext uri="{FF2B5EF4-FFF2-40B4-BE49-F238E27FC236}">
                <a16:creationId xmlns:a16="http://schemas.microsoft.com/office/drawing/2014/main" id="{321F1C2B-1705-40AC-8F19-653E7583326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Aft>
                <a:spcPts val="700"/>
              </a:spcAft>
              <a:buNone/>
              <a:defRPr sz="2900">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The missing bridge is now connected</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F003F4DE-E725-4F73-A77C-ED23986C0AFE}"/>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B8980A92-2C1C-4894-85B3-CF668E004A0C}"/>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67EE31D3-7664-4C50-A3BC-B9E409C60698}"/>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0A121939-0EDF-4489-9E4D-3232567918B3}"/>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400" b="1">
                <a:solidFill>
                  <a:srgbClr val="3D8DFF"/>
                </a:solidFill>
                <a:latin typeface="Helvetica Neue"/>
                <a:ea typeface="Helvetica Neue"/>
                <a:cs typeface="Helvetica Neue"/>
              </a:rPr>
              <a:t>INPUT</a:t>
            </a:r>
          </a:p>
        </p:txBody>
      </p:sp>
      <p:sp>
        <p:nvSpPr>
          <p:cNvPr id="8" name="Content-Placeholder-15-9">
            <a:extLst xmlns:a="http://schemas.openxmlformats.org/drawingml/2006/main">
              <a:ext uri="{FF2B5EF4-FFF2-40B4-BE49-F238E27FC236}">
                <a16:creationId xmlns:a16="http://schemas.microsoft.com/office/drawing/2014/main" id="{683EFF76-6770-4B88-B2F2-1ACAF3722356}"/>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400" b="1">
                <a:solidFill>
                  <a:srgbClr val="3D8DFF"/>
                </a:solidFill>
                <a:latin typeface="Helvetica Neue"/>
                <a:ea typeface="Helvetica Neue"/>
                <a:cs typeface="Helvetica Neue"/>
              </a:rPr>
              <a:t>CONTRACT</a:t>
            </a:r>
          </a:p>
        </p:txBody>
      </p:sp>
      <p:sp>
        <p:nvSpPr>
          <p:cNvPr id="9" name="Content-Placeholder-15-10">
            <a:extLst xmlns:a="http://schemas.openxmlformats.org/drawingml/2006/main">
              <a:ext uri="{FF2B5EF4-FFF2-40B4-BE49-F238E27FC236}">
                <a16:creationId xmlns:a16="http://schemas.microsoft.com/office/drawing/2014/main" id="{E611FE3C-DCAF-4376-9EEC-F71C7A6FE345}"/>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400" b="1">
                <a:solidFill>
                  <a:srgbClr val="3D8DFF"/>
                </a:solidFill>
                <a:latin typeface="Helvetica Neue"/>
                <a:ea typeface="Helvetica Neue"/>
                <a:cs typeface="Helvetica Neue"/>
              </a:rPr>
              <a:t>EXECUTION</a:t>
            </a:r>
          </a:p>
        </p:txBody>
      </p:sp>
      <p:sp>
        <p:nvSpPr>
          <p:cNvPr id="10" name="Text-Placeholder-16-11">
            <a:extLst xmlns:a="http://schemas.openxmlformats.org/drawingml/2006/main">
              <a:ext uri="{FF2B5EF4-FFF2-40B4-BE49-F238E27FC236}">
                <a16:creationId xmlns:a16="http://schemas.microsoft.com/office/drawing/2014/main" id="{D6664CC2-CA63-4AA9-BBF4-BFC2489BE520}"/>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Skill selected</a:t>
            </a:r>
          </a:p>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Checks parameters and records the reusable booking contract.</a:t>
            </a:r>
          </a:p>
        </p:txBody>
      </p:sp>
      <p:sp>
        <p:nvSpPr>
          <p:cNvPr id="11" name="Text-Placeholder-16-12">
            <a:extLst xmlns:a="http://schemas.openxmlformats.org/drawingml/2006/main">
              <a:ext uri="{FF2B5EF4-FFF2-40B4-BE49-F238E27FC236}">
                <a16:creationId xmlns:a16="http://schemas.microsoft.com/office/drawing/2014/main" id="{8E365B12-9D3F-4530-BCA6-BCC85DB09948}"/>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GoalSpec</a:t>
            </a:r>
          </a:p>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Says what result is wanted and supplies room + time.</a:t>
            </a:r>
          </a:p>
        </p:txBody>
      </p:sp>
      <p:sp>
        <p:nvSpPr>
          <p:cNvPr id="12" name="Text-Placeholder-16-13">
            <a:extLst xmlns:a="http://schemas.openxmlformats.org/drawingml/2006/main">
              <a:ext uri="{FF2B5EF4-FFF2-40B4-BE49-F238E27FC236}">
                <a16:creationId xmlns:a16="http://schemas.microsoft.com/office/drawing/2014/main" id="{99F6D1CE-7D93-4553-AABD-7F7211C3BA9F}"/>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Typed primitives</a:t>
            </a:r>
          </a:p>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The existing planner produces: type → type → click.</a:t>
            </a:r>
          </a:p>
        </p:txBody>
      </p:sp>
    </p:spTree>
    <p:extLst>
      <p:ext uri="{BB962C8B-B14F-4D97-AF65-F5344CB8AC3E}">
        <p14:creationId xmlns:p14="http://schemas.microsoft.com/office/powerpoint/2010/main" val="120181493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5D673F34-2FC6-4CC5-895A-A6004A9B649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Google-Shape-533-p58-3">
            <a:extLst xmlns:a="http://schemas.openxmlformats.org/drawingml/2006/main">
              <a:ext uri="{FF2B5EF4-FFF2-40B4-BE49-F238E27FC236}">
                <a16:creationId xmlns:a16="http://schemas.microsoft.com/office/drawing/2014/main" id="{73F7BAA1-6B90-4697-B9BF-B9F534A99955}"/>
              </a:ext>
            </a:extLst>
          </p:cNvPr>
          <p:cNvSpPr>
            <a:spLocks xmlns:a="http://schemas.openxmlformats.org/drawingml/2006/main" noGrp="1"/>
          </p:cNvSpPr>
          <p:nvPr/>
        </p:nvSpPr>
        <p:spPr>
          <a:xfrm xmlns:a="http://schemas.openxmlformats.org/drawingml/2006/main">
            <a:off x="393668" y="344519"/>
            <a:ext cx="11404568" cy="1283018"/>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Aft>
                <a:spcPts val="700"/>
              </a:spcAft>
              <a:buNone/>
              <a:defRPr sz="2900">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The live demo stops before the final click</a:t>
            </a:r>
          </a:p>
        </p:txBody>
      </p:sp>
      <p:sp>
        <p:nvSpPr>
          <p:cNvPr id="3" name="Rounded-Rectangle-9-4">
            <a:extLst xmlns:a="http://schemas.openxmlformats.org/drawingml/2006/main">
              <a:ext uri="{FF2B5EF4-FFF2-40B4-BE49-F238E27FC236}">
                <a16:creationId xmlns:a16="http://schemas.microsoft.com/office/drawing/2014/main" id="{D6FADCD7-84C7-41B1-8934-91A087AEAEA3}"/>
              </a:ext>
            </a:extLst>
          </p:cNvPr>
          <p:cNvSpPr>
            <a:spLocks xmlns:a="http://schemas.openxmlformats.org/drawingml/2006/main" noGrp="1"/>
          </p:cNvSpPr>
          <p:nvPr/>
        </p:nvSpPr>
        <p:spPr>
          <a:xfrm xmlns:a="http://schemas.openxmlformats.org/drawingml/2006/main">
            <a:off x="430892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4" name="Rounded-Rectangle-10-5">
            <a:extLst xmlns:a="http://schemas.openxmlformats.org/drawingml/2006/main">
              <a:ext uri="{FF2B5EF4-FFF2-40B4-BE49-F238E27FC236}">
                <a16:creationId xmlns:a16="http://schemas.microsoft.com/office/drawing/2014/main" id="{34A67F7F-B0E0-48D8-84A2-520A9A0B08AA}"/>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5" name="Content-Placeholder-9-6">
            <a:extLst xmlns:a="http://schemas.openxmlformats.org/drawingml/2006/main">
              <a:ext uri="{FF2B5EF4-FFF2-40B4-BE49-F238E27FC236}">
                <a16:creationId xmlns:a16="http://schemas.microsoft.com/office/drawing/2014/main" id="{EDEFE34F-DD28-46BA-80F8-67D50E3ADA4E}"/>
              </a:ext>
            </a:extLst>
          </p:cNvPr>
          <p:cNvSpPr>
            <a:spLocks xmlns:a="http://schemas.openxmlformats.org/drawingml/2006/main" noGrp="1"/>
          </p:cNvSpPr>
          <p:nvPr/>
        </p:nvSpPr>
        <p:spPr>
          <a:xfrm xmlns:a="http://schemas.openxmlformats.org/drawingml/2006/main">
            <a:off x="4621816"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875" b="1">
                <a:solidFill>
                  <a:srgbClr val="3D8DFF"/>
                </a:solidFill>
                <a:latin typeface="Helvetica Neue"/>
                <a:ea typeface="Helvetica Neue"/>
                <a:cs typeface="Helvetica Neue"/>
              </a:rPr>
              <a:t>2 · Human takes over</a:t>
            </a:r>
          </a:p>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Clicks Book Room while the agent waits.</a:t>
            </a:r>
          </a:p>
        </p:txBody>
      </p:sp>
      <p:sp>
        <p:nvSpPr>
          <p:cNvPr id="6" name="Content-Placeholder-10-7">
            <a:extLst xmlns:a="http://schemas.openxmlformats.org/drawingml/2006/main">
              <a:ext uri="{FF2B5EF4-FFF2-40B4-BE49-F238E27FC236}">
                <a16:creationId xmlns:a16="http://schemas.microsoft.com/office/drawing/2014/main" id="{420E151F-3BB5-415B-B32F-5D5434F8D5F5}"/>
              </a:ext>
            </a:extLst>
          </p:cNvPr>
          <p:cNvSpPr>
            <a:spLocks xmlns:a="http://schemas.openxmlformats.org/drawingml/2006/main" noGrp="1"/>
          </p:cNvSpPr>
          <p:nvPr/>
        </p:nvSpPr>
        <p:spPr>
          <a:xfrm xmlns:a="http://schemas.openxmlformats.org/drawingml/2006/main">
            <a:off x="853611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875" b="1">
                <a:solidFill>
                  <a:srgbClr val="3D8DFF"/>
                </a:solidFill>
                <a:latin typeface="Helvetica Neue"/>
                <a:ea typeface="Helvetica Neue"/>
                <a:cs typeface="Helvetica Neue"/>
              </a:rPr>
              <a:t>3 · Resume safely</a:t>
            </a:r>
          </a:p>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Fresh observation sees success; no second click.</a:t>
            </a:r>
          </a:p>
        </p:txBody>
      </p:sp>
      <p:sp>
        <p:nvSpPr>
          <p:cNvPr id="7" name="Google-Shape-340-p61-8">
            <a:extLst xmlns:a="http://schemas.openxmlformats.org/drawingml/2006/main">
              <a:ext uri="{FF2B5EF4-FFF2-40B4-BE49-F238E27FC236}">
                <a16:creationId xmlns:a16="http://schemas.microsoft.com/office/drawing/2014/main" id="{CC17963A-D81B-47DB-93BC-527FD09B093A}"/>
              </a:ext>
            </a:extLst>
          </p:cNvPr>
          <p:cNvSpPr>
            <a:spLocks xmlns:a="http://schemas.openxmlformats.org/drawingml/2006/main" noGrp="1"/>
          </p:cNvSpPr>
          <p:nvPr/>
        </p:nvSpPr>
        <p:spPr>
          <a:xfrm xmlns:a="http://schemas.openxmlformats.org/drawingml/2006/main">
            <a:off x="4627626"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8" name="Google-Shape-340-p61-9">
            <a:extLst xmlns:a="http://schemas.openxmlformats.org/drawingml/2006/main">
              <a:ext uri="{FF2B5EF4-FFF2-40B4-BE49-F238E27FC236}">
                <a16:creationId xmlns:a16="http://schemas.microsoft.com/office/drawing/2014/main" id="{2730E4EB-97D6-484A-8AB4-DF2C63ED9488}"/>
              </a:ext>
            </a:extLst>
          </p:cNvPr>
          <p:cNvSpPr>
            <a:spLocks xmlns:a="http://schemas.openxmlformats.org/drawingml/2006/main" noGrp="1"/>
          </p:cNvSpPr>
          <p:nvPr/>
        </p:nvSpPr>
        <p:spPr>
          <a:xfrm xmlns:a="http://schemas.openxmlformats.org/drawingml/2006/main">
            <a:off x="8533257"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Rounded-Rectangle-5-10">
            <a:extLst xmlns:a="http://schemas.openxmlformats.org/drawingml/2006/main">
              <a:ext uri="{FF2B5EF4-FFF2-40B4-BE49-F238E27FC236}">
                <a16:creationId xmlns:a16="http://schemas.microsoft.com/office/drawing/2014/main" id="{AE63903C-B860-49D6-A255-B6A1EEB1B2F1}"/>
              </a:ext>
            </a:extLst>
          </p:cNvPr>
          <p:cNvSpPr>
            <a:spLocks xmlns:a="http://schemas.openxmlformats.org/drawingml/2006/main" noGrp="1"/>
          </p:cNvSpPr>
          <p:nvPr/>
        </p:nvSpPr>
        <p:spPr>
          <a:xfrm xmlns:a="http://schemas.openxmlformats.org/drawingml/2006/main">
            <a:off x="388334"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10" name="Content-Placeholder-9-11">
            <a:extLst xmlns:a="http://schemas.openxmlformats.org/drawingml/2006/main">
              <a:ext uri="{FF2B5EF4-FFF2-40B4-BE49-F238E27FC236}">
                <a16:creationId xmlns:a16="http://schemas.microsoft.com/office/drawing/2014/main" id="{C275EA3B-F314-46FC-A4D1-B1C43F991A53}"/>
              </a:ext>
            </a:extLst>
          </p:cNvPr>
          <p:cNvSpPr>
            <a:spLocks xmlns:a="http://schemas.openxmlformats.org/drawingml/2006/main" noGrp="1"/>
          </p:cNvSpPr>
          <p:nvPr/>
        </p:nvSpPr>
        <p:spPr>
          <a:xfrm xmlns:a="http://schemas.openxmlformats.org/drawingml/2006/main">
            <a:off x="70113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875" b="1">
                <a:solidFill>
                  <a:srgbClr val="3D8DFF"/>
                </a:solidFill>
                <a:latin typeface="Helvetica Neue"/>
                <a:ea typeface="Helvetica Neue"/>
                <a:cs typeface="Helvetica Neue"/>
              </a:rPr>
              <a:t>1 · Agent works</a:t>
            </a:r>
          </a:p>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Types room and time in Chromium.</a:t>
            </a:r>
          </a:p>
        </p:txBody>
      </p:sp>
      <p:sp>
        <p:nvSpPr>
          <p:cNvPr id="11" name="Google-Shape-340-p61-12">
            <a:extLst xmlns:a="http://schemas.openxmlformats.org/drawingml/2006/main">
              <a:ext uri="{FF2B5EF4-FFF2-40B4-BE49-F238E27FC236}">
                <a16:creationId xmlns:a16="http://schemas.microsoft.com/office/drawing/2014/main" id="{7E129728-24EE-44CC-82A8-F62288E943ED}"/>
              </a:ext>
            </a:extLst>
          </p:cNvPr>
          <p:cNvSpPr>
            <a:spLocks xmlns:a="http://schemas.openxmlformats.org/drawingml/2006/main" noGrp="1"/>
          </p:cNvSpPr>
          <p:nvPr/>
        </p:nvSpPr>
        <p:spPr>
          <a:xfrm xmlns:a="http://schemas.openxmlformats.org/drawingml/2006/main">
            <a:off x="707041"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2" name="Content-Placeholder-15-13">
            <a:extLst xmlns:a="http://schemas.openxmlformats.org/drawingml/2006/main">
              <a:ext uri="{FF2B5EF4-FFF2-40B4-BE49-F238E27FC236}">
                <a16:creationId xmlns:a16="http://schemas.microsoft.com/office/drawing/2014/main" id="{93169ED2-59CD-4503-8708-10FF57037CD0}"/>
              </a:ext>
            </a:extLst>
          </p:cNvPr>
          <p:cNvSpPr>
            <a:spLocks xmlns:a="http://schemas.openxmlformats.org/drawingml/2006/main" noGrp="1"/>
          </p:cNvSpPr>
          <p:nvPr/>
        </p:nvSpPr>
        <p:spPr>
          <a:xfrm xmlns:a="http://schemas.openxmlformats.org/drawingml/2006/main">
            <a:off x="393668" y="1450562"/>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400" b="1">
                <a:solidFill>
                  <a:srgbClr val="3D8DFF"/>
                </a:solidFill>
                <a:latin typeface="Helvetica Neue"/>
                <a:ea typeface="Helvetica Neue"/>
                <a:cs typeface="Helvetica Neue"/>
              </a:rPr>
              <a:t>ONE VISIBLE BOOKING TASK</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The agent works in a fresh browser session. The Book Room control is marked high risk so the human checkpoint is predictable.</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After Resume, the old plan is discarded and the page is observed again.</a:t>
            </a:r>
          </a:p>
        </p:txBody>
      </p:sp>
    </p:spTree>
    <p:extLst>
      <p:ext uri="{BB962C8B-B14F-4D97-AF65-F5344CB8AC3E}">
        <p14:creationId xmlns:p14="http://schemas.microsoft.com/office/powerpoint/2010/main" val="143639484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49733A06-C1A5-45DA-9DB5-693ED7446D4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Google-Shape-533-p58-3">
            <a:extLst xmlns:a="http://schemas.openxmlformats.org/drawingml/2006/main">
              <a:ext uri="{FF2B5EF4-FFF2-40B4-BE49-F238E27FC236}">
                <a16:creationId xmlns:a16="http://schemas.microsoft.com/office/drawing/2014/main" id="{54F73F2F-4A9D-485E-B491-5AB47553C786}"/>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Aft>
                <a:spcPts val="700"/>
              </a:spcAft>
              <a:buNone/>
              <a:defRPr sz="2900">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What I will show — and what I will not claim</a:t>
            </a:r>
          </a:p>
        </p:txBody>
      </p:sp>
      <p:sp>
        <p:nvSpPr>
          <p:cNvPr id="3" name="Rounded-Rectangle-1-4">
            <a:extLst xmlns:a="http://schemas.openxmlformats.org/drawingml/2006/main">
              <a:ext uri="{FF2B5EF4-FFF2-40B4-BE49-F238E27FC236}">
                <a16:creationId xmlns:a16="http://schemas.microsoft.com/office/drawing/2014/main" id="{FB1B8C37-A7CB-469B-B1CB-4057DD11C02F}"/>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C1CAB76F-C43E-470F-87D6-A53C88DB28E0}"/>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025" b="1">
                <a:solidFill>
                  <a:srgbClr val="3D8DFF"/>
                </a:solidFill>
                <a:latin typeface="Helvetica Neue"/>
                <a:ea typeface="Helvetica Neue"/>
                <a:cs typeface="Helvetica Neue"/>
              </a:rPr>
              <a:t>Implemented now</a:t>
            </a:r>
          </a:p>
        </p:txBody>
      </p:sp>
      <p:sp>
        <p:nvSpPr>
          <p:cNvPr id="5" name="Content-Placeholder-15-6">
            <a:extLst xmlns:a="http://schemas.openxmlformats.org/drawingml/2006/main">
              <a:ext uri="{FF2B5EF4-FFF2-40B4-BE49-F238E27FC236}">
                <a16:creationId xmlns:a16="http://schemas.microsoft.com/office/drawing/2014/main" id="{1CFC18CE-D9E2-4795-A8AE-2F066BED28A0}"/>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marL="228600" indent="-228600" algn="l">
              <a:lnSpc>
                <a:spcPct val="108000"/>
              </a:lnSpc>
              <a:spcAft>
                <a:spcPts val="650"/>
              </a:spcAft>
              <a:buNone/>
              <a:defRPr sz="1600">
                <a:solidFill>
                  <a:srgbClr val="000000"/>
                </a:solidFill>
                <a:latin typeface="Helvetica Neue"/>
                <a:ea typeface="Helvetica Neue"/>
                <a:cs typeface="Helvetica Neue"/>
              </a:defRPr>
            </a:pPr>
            <a:r>
              <a:rPr sz="1400" b="0">
                <a:solidFill>
                  <a:srgbClr val="000000"/>
                </a:solidFill>
                <a:latin typeface="Helvetica Neue"/>
                <a:ea typeface="Helvetica Neue"/>
                <a:cs typeface="Helvetica Neue"/>
              </a:rPr>
              <a:t>Fresh browser + restored WoT state</a:t>
            </a:r>
          </a:p>
          <a:p xmlns:a="http://schemas.openxmlformats.org/drawingml/2006/main">
            <a:pPr marL="228600" indent="-228600" algn="l">
              <a:lnSpc>
                <a:spcPct val="108000"/>
              </a:lnSpc>
              <a:spcAft>
                <a:spcPts val="650"/>
              </a:spcAft>
              <a:buNone/>
              <a:defRPr sz="1600">
                <a:solidFill>
                  <a:srgbClr val="000000"/>
                </a:solidFill>
                <a:latin typeface="Helvetica Neue"/>
                <a:ea typeface="Helvetica Neue"/>
                <a:cs typeface="Helvetica Neue"/>
              </a:defRPr>
            </a:pPr>
            <a:r>
              <a:rPr sz="1400" b="0">
                <a:solidFill>
                  <a:srgbClr val="000000"/>
                </a:solidFill>
                <a:latin typeface="Helvetica Neue"/>
                <a:ea typeface="Helvetica Neue"/>
                <a:cs typeface="Helvetica Neue"/>
              </a:rPr>
              <a:t>Real pause, takeover, and safe Resume</a:t>
            </a:r>
          </a:p>
          <a:p xmlns:a="http://schemas.openxmlformats.org/drawingml/2006/main">
            <a:pPr marL="228600" indent="-228600" algn="l">
              <a:lnSpc>
                <a:spcPct val="108000"/>
              </a:lnSpc>
              <a:spcAft>
                <a:spcPts val="650"/>
              </a:spcAft>
              <a:buNone/>
              <a:defRPr sz="1600">
                <a:solidFill>
                  <a:srgbClr val="000000"/>
                </a:solidFill>
                <a:latin typeface="Helvetica Neue"/>
                <a:ea typeface="Helvetica Neue"/>
                <a:cs typeface="Helvetica Neue"/>
              </a:defRPr>
            </a:pPr>
            <a:r>
              <a:rPr sz="1400" b="0">
                <a:solidFill>
                  <a:srgbClr val="000000"/>
                </a:solidFill>
                <a:latin typeface="Helvetica Neue"/>
                <a:ea typeface="Helvetica Neue"/>
                <a:cs typeface="Helvetica Neue"/>
              </a:rPr>
              <a:t>Goal → Skill → primitives in one trace</a:t>
            </a:r>
          </a:p>
        </p:txBody>
      </p:sp>
      <p:sp>
        <p:nvSpPr>
          <p:cNvPr id="6" name="Rounded-Rectangle-7-7">
            <a:extLst xmlns:a="http://schemas.openxmlformats.org/drawingml/2006/main">
              <a:ext uri="{FF2B5EF4-FFF2-40B4-BE49-F238E27FC236}">
                <a16:creationId xmlns:a16="http://schemas.microsoft.com/office/drawing/2014/main" id="{1A1E6B6D-7312-46AE-8135-2ACD086F5835}"/>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717B2050-D968-4EC8-825C-1D9600EF90DA}"/>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Future Windows PiP</a:t>
            </a:r>
          </a:p>
        </p:txBody>
      </p:sp>
      <p:sp>
        <p:nvSpPr>
          <p:cNvPr id="8" name="Content-Placeholder-15-9">
            <a:extLst xmlns:a="http://schemas.openxmlformats.org/drawingml/2006/main">
              <a:ext uri="{FF2B5EF4-FFF2-40B4-BE49-F238E27FC236}">
                <a16:creationId xmlns:a16="http://schemas.microsoft.com/office/drawing/2014/main" id="{9D474EF5-0B77-4306-8BF9-7592A0F69008}"/>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marL="228600" indent="-228600" algn="l">
              <a:lnSpc>
                <a:spcPct val="108000"/>
              </a:lnSpc>
              <a:spcAft>
                <a:spcPts val="650"/>
              </a:spcAft>
              <a:buNone/>
              <a:defRPr sz="1600">
                <a:solidFill>
                  <a:srgbClr val="000000"/>
                </a:solidFill>
                <a:latin typeface="Helvetica Neue"/>
                <a:ea typeface="Helvetica Neue"/>
                <a:cs typeface="Helvetica Neue"/>
              </a:defRPr>
            </a:pPr>
            <a:r>
              <a:rPr sz="1400" b="0">
                <a:solidFill>
                  <a:srgbClr val="000000"/>
                </a:solidFill>
                <a:latin typeface="Helvetica Neue"/>
                <a:ea typeface="Helvetica Neue"/>
                <a:cs typeface="Helvetica Neue"/>
              </a:rPr>
              <a:t>No RDP child desktop yet</a:t>
            </a:r>
          </a:p>
          <a:p xmlns:a="http://schemas.openxmlformats.org/drawingml/2006/main">
            <a:pPr marL="228600" indent="-228600" algn="l">
              <a:lnSpc>
                <a:spcPct val="108000"/>
              </a:lnSpc>
              <a:spcAft>
                <a:spcPts val="650"/>
              </a:spcAft>
              <a:buNone/>
              <a:defRPr sz="1600">
                <a:solidFill>
                  <a:srgbClr val="000000"/>
                </a:solidFill>
                <a:latin typeface="Helvetica Neue"/>
                <a:ea typeface="Helvetica Neue"/>
                <a:cs typeface="Helvetica Neue"/>
              </a:defRPr>
            </a:pPr>
            <a:r>
              <a:rPr sz="1400" b="0">
                <a:solidFill>
                  <a:srgbClr val="000000"/>
                </a:solidFill>
                <a:latin typeface="Helvetica Neue"/>
                <a:ea typeface="Helvetica Neue"/>
                <a:cs typeface="Helvetica Neue"/>
              </a:rPr>
              <a:t>No separate Windows input/process session</a:t>
            </a:r>
          </a:p>
          <a:p xmlns:a="http://schemas.openxmlformats.org/drawingml/2006/main">
            <a:pPr marL="228600" indent="-228600" algn="l">
              <a:lnSpc>
                <a:spcPct val="108000"/>
              </a:lnSpc>
              <a:spcAft>
                <a:spcPts val="650"/>
              </a:spcAft>
              <a:buNone/>
              <a:defRPr sz="1600">
                <a:solidFill>
                  <a:srgbClr val="000000"/>
                </a:solidFill>
                <a:latin typeface="Helvetica Neue"/>
                <a:ea typeface="Helvetica Neue"/>
                <a:cs typeface="Helvetica Neue"/>
              </a:defRPr>
            </a:pPr>
            <a:r>
              <a:rPr sz="1400" b="0">
                <a:solidFill>
                  <a:srgbClr val="000000"/>
                </a:solidFill>
                <a:latin typeface="Helvetica Neue"/>
                <a:ea typeface="Helvetica Neue"/>
                <a:cs typeface="Helvetica Neue"/>
              </a:rPr>
              <a:t>Requires a later Windows host provider</a:t>
            </a:r>
          </a:p>
        </p:txBody>
      </p:sp>
      <p:sp>
        <p:nvSpPr>
          <p:cNvPr id="9" name="Content-Placeholder-15-10">
            <a:extLst xmlns:a="http://schemas.openxmlformats.org/drawingml/2006/main">
              <a:ext uri="{FF2B5EF4-FFF2-40B4-BE49-F238E27FC236}">
                <a16:creationId xmlns:a16="http://schemas.microsoft.com/office/drawing/2014/main" id="{65100C0D-F6A4-435B-9AE7-A79C2951C1BE}"/>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400" b="1">
                <a:solidFill>
                  <a:srgbClr val="3D8DFF"/>
                </a:solidFill>
                <a:latin typeface="Helvetica Neue"/>
                <a:ea typeface="Helvetica Neue"/>
                <a:cs typeface="Helvetica Neue"/>
              </a:rPr>
              <a:t>FINISH WITH THE EVIDENCE FILE</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Open artifacts/fadi_weekly_demo/episode.json and show the selected Skill, primitive plan, human decision, fresh verification, and cleanup result.</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This makes the result easy to inspect after the visual demo.</a:t>
            </a:r>
          </a:p>
        </p:txBody>
      </p:sp>
    </p:spTree>
    <p:extLst>
      <p:ext uri="{BB962C8B-B14F-4D97-AF65-F5344CB8AC3E}">
        <p14:creationId xmlns:p14="http://schemas.microsoft.com/office/powerpoint/2010/main" val="8412874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2026-08-14T07:52:24.9010000Z</dcterms:created>
  <dcterms:modified xsi:type="dcterms:W3CDTF">2026-08-14T07:52:24.9010000Z</dcterms:modified>
</coreProperties>
</file>